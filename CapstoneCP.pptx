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7" r:id="rId2"/>
    <p:sldId id="26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32"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7.png"/></Relationships>
</file>

<file path=ppt/diagrams/_rels/drawing1.xml.rels><?xml version="1.0" encoding="UTF-8" standalone="yes"?>
<Relationships xmlns="http://schemas.openxmlformats.org/package/2006/relationships"><Relationship Id="rId1"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572F9B-4767-4D2F-8D3D-1DA8D0B3B8A1}" type="doc">
      <dgm:prSet loTypeId="urn:microsoft.com/office/officeart/2008/layout/AscendingPictureAccentProcess" loCatId="process" qsTypeId="urn:microsoft.com/office/officeart/2005/8/quickstyle/simple1" qsCatId="simple" csTypeId="urn:microsoft.com/office/officeart/2005/8/colors/accent1_2" csCatId="accent1" phldr="1"/>
      <dgm:spPr/>
    </dgm:pt>
    <dgm:pt modelId="{12CAEBDB-8B22-48E4-AAB1-2606131DA5C0}">
      <dgm:prSet phldrT="[Text]" custT="1"/>
      <dgm:spPr/>
      <dgm:t>
        <a:bodyPr/>
        <a:lstStyle/>
        <a:p>
          <a:r>
            <a:rPr lang="en-US" sz="2000" dirty="0">
              <a:solidFill>
                <a:srgbClr val="0000FF"/>
              </a:solidFill>
              <a:latin typeface="Times New Roman" panose="02020603050405020304" pitchFamily="18" charset="0"/>
              <a:cs typeface="Times New Roman" panose="02020603050405020304" pitchFamily="18" charset="0"/>
            </a:rPr>
            <a:t>The Consumer Complaint Handling System automates complaint management, improving efficiency and customer satisfaction. Built with C programming, it provides essential features such as complaint registration, tracking, and feedback collection. While simple, it has the potential for future enhancements, ensuring scalability and adaptability to evolving business needs. The system highlights the importance of automation in customer service.</a:t>
          </a:r>
        </a:p>
        <a:p>
          <a:endParaRPr lang="en-IN" sz="2000" dirty="0"/>
        </a:p>
      </dgm:t>
    </dgm:pt>
    <dgm:pt modelId="{0EBB0F83-A5E7-4556-BBF7-61B9942267F1}" type="parTrans" cxnId="{8B7AE16D-3454-423E-8BFF-CEA0937CF393}">
      <dgm:prSet/>
      <dgm:spPr/>
      <dgm:t>
        <a:bodyPr/>
        <a:lstStyle/>
        <a:p>
          <a:endParaRPr lang="en-IN"/>
        </a:p>
      </dgm:t>
    </dgm:pt>
    <dgm:pt modelId="{71A63F12-5763-4B38-8742-2B15BDC7BBB2}" type="sibTrans" cxnId="{8B7AE16D-3454-423E-8BFF-CEA0937CF393}">
      <dgm:prSet/>
      <dgm:spPr>
        <a:blipFill>
          <a:blip xmlns:r="http://schemas.openxmlformats.org/officeDocument/2006/relationships" r:embed="rId1"/>
          <a:srcRect/>
          <a:stretch>
            <a:fillRect/>
          </a:stretch>
        </a:blipFill>
      </dgm:spPr>
      <dgm:t>
        <a:bodyPr/>
        <a:lstStyle/>
        <a:p>
          <a:endParaRPr lang="en-IN"/>
        </a:p>
      </dgm:t>
    </dgm:pt>
    <dgm:pt modelId="{9EA410F9-91DA-4280-B282-AA4956C6A890}" type="pres">
      <dgm:prSet presAssocID="{89572F9B-4767-4D2F-8D3D-1DA8D0B3B8A1}" presName="Name0" presStyleCnt="0">
        <dgm:presLayoutVars>
          <dgm:chMax val="7"/>
          <dgm:chPref val="7"/>
          <dgm:dir/>
        </dgm:presLayoutVars>
      </dgm:prSet>
      <dgm:spPr/>
    </dgm:pt>
    <dgm:pt modelId="{76801A30-6503-48C5-9880-68CCBC477496}" type="pres">
      <dgm:prSet presAssocID="{12CAEBDB-8B22-48E4-AAB1-2606131DA5C0}" presName="parTx1" presStyleLbl="node1" presStyleIdx="0" presStyleCnt="1" custScaleX="93174" custScaleY="438737"/>
      <dgm:spPr/>
    </dgm:pt>
    <dgm:pt modelId="{3F232768-2934-4E84-95A0-E4BB80DD579E}" type="pres">
      <dgm:prSet presAssocID="{71A63F12-5763-4B38-8742-2B15BDC7BBB2}" presName="picture1" presStyleCnt="0"/>
      <dgm:spPr/>
    </dgm:pt>
    <dgm:pt modelId="{9116A680-A2E3-4397-957C-0134D78C1009}" type="pres">
      <dgm:prSet presAssocID="{71A63F12-5763-4B38-8742-2B15BDC7BBB2}" presName="imageRepeatNode" presStyleLbl="fgImgPlace1" presStyleIdx="0" presStyleCnt="1"/>
      <dgm:spPr/>
    </dgm:pt>
  </dgm:ptLst>
  <dgm:cxnLst>
    <dgm:cxn modelId="{74F03733-1CD3-4075-8915-B253622F56F5}" type="presOf" srcId="{71A63F12-5763-4B38-8742-2B15BDC7BBB2}" destId="{9116A680-A2E3-4397-957C-0134D78C1009}" srcOrd="0" destOrd="0" presId="urn:microsoft.com/office/officeart/2008/layout/AscendingPictureAccentProcess"/>
    <dgm:cxn modelId="{4718FF4C-9FCB-4FD9-9388-AD1C61CE6AD2}" type="presOf" srcId="{12CAEBDB-8B22-48E4-AAB1-2606131DA5C0}" destId="{76801A30-6503-48C5-9880-68CCBC477496}" srcOrd="0" destOrd="0" presId="urn:microsoft.com/office/officeart/2008/layout/AscendingPictureAccentProcess"/>
    <dgm:cxn modelId="{8B7AE16D-3454-423E-8BFF-CEA0937CF393}" srcId="{89572F9B-4767-4D2F-8D3D-1DA8D0B3B8A1}" destId="{12CAEBDB-8B22-48E4-AAB1-2606131DA5C0}" srcOrd="0" destOrd="0" parTransId="{0EBB0F83-A5E7-4556-BBF7-61B9942267F1}" sibTransId="{71A63F12-5763-4B38-8742-2B15BDC7BBB2}"/>
    <dgm:cxn modelId="{70CC55F3-636B-4A7F-A9A1-AB9B1A1E1CD5}" type="presOf" srcId="{89572F9B-4767-4D2F-8D3D-1DA8D0B3B8A1}" destId="{9EA410F9-91DA-4280-B282-AA4956C6A890}" srcOrd="0" destOrd="0" presId="urn:microsoft.com/office/officeart/2008/layout/AscendingPictureAccentProcess"/>
    <dgm:cxn modelId="{F04D9A6E-12F6-4255-A566-D1F347EF961F}" type="presParOf" srcId="{9EA410F9-91DA-4280-B282-AA4956C6A890}" destId="{76801A30-6503-48C5-9880-68CCBC477496}" srcOrd="0" destOrd="0" presId="urn:microsoft.com/office/officeart/2008/layout/AscendingPictureAccentProcess"/>
    <dgm:cxn modelId="{9310C94B-EEBC-4551-B37A-BD5EB7DE0B43}" type="presParOf" srcId="{9EA410F9-91DA-4280-B282-AA4956C6A890}" destId="{3F232768-2934-4E84-95A0-E4BB80DD579E}" srcOrd="1" destOrd="0" presId="urn:microsoft.com/office/officeart/2008/layout/AscendingPictureAccentProcess"/>
    <dgm:cxn modelId="{AB3BC16F-3A44-4EFA-A10F-DBB450F0BBEC}" type="presParOf" srcId="{3F232768-2934-4E84-95A0-E4BB80DD579E}" destId="{9116A680-A2E3-4397-957C-0134D78C1009}" srcOrd="0" destOrd="0" presId="urn:microsoft.com/office/officeart/2008/layout/AscendingPictureAccen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801A30-6503-48C5-9880-68CCBC477496}">
      <dsp:nvSpPr>
        <dsp:cNvPr id="0" name=""/>
        <dsp:cNvSpPr/>
      </dsp:nvSpPr>
      <dsp:spPr>
        <a:xfrm>
          <a:off x="1839321" y="64395"/>
          <a:ext cx="4447290" cy="561621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0307"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solidFill>
                <a:srgbClr val="0000FF"/>
              </a:solidFill>
              <a:latin typeface="Times New Roman" panose="02020603050405020304" pitchFamily="18" charset="0"/>
              <a:cs typeface="Times New Roman" panose="02020603050405020304" pitchFamily="18" charset="0"/>
            </a:rPr>
            <a:t>The Consumer Complaint Handling System automates complaint management, improving efficiency and customer satisfaction. Built with C programming, it provides essential features such as complaint registration, tracking, and feedback collection. While simple, it has the potential for future enhancements, ensuring scalability and adaptability to evolving business needs. The system highlights the importance of automation in customer service.</a:t>
          </a:r>
        </a:p>
        <a:p>
          <a:pPr marL="0" lvl="0" indent="0" algn="l" defTabSz="889000">
            <a:lnSpc>
              <a:spcPct val="90000"/>
            </a:lnSpc>
            <a:spcBef>
              <a:spcPct val="0"/>
            </a:spcBef>
            <a:spcAft>
              <a:spcPct val="35000"/>
            </a:spcAft>
            <a:buNone/>
          </a:pPr>
          <a:endParaRPr lang="en-IN" sz="2000" kern="1200" dirty="0"/>
        </a:p>
      </dsp:txBody>
      <dsp:txXfrm>
        <a:off x="2056420" y="281494"/>
        <a:ext cx="4013092" cy="5182015"/>
      </dsp:txXfrm>
    </dsp:sp>
    <dsp:sp modelId="{9116A680-A2E3-4397-957C-0134D78C1009}">
      <dsp:nvSpPr>
        <dsp:cNvPr id="0" name=""/>
        <dsp:cNvSpPr/>
      </dsp:nvSpPr>
      <dsp:spPr>
        <a:xfrm>
          <a:off x="352840" y="977768"/>
          <a:ext cx="2212929" cy="2213261"/>
        </a:xfrm>
        <a:prstGeom prst="ellipse">
          <a:avLst/>
        </a:prstGeom>
        <a:blipFill>
          <a:blip xmlns:r="http://schemas.openxmlformats.org/officeDocument/2006/relationships" r:embed="rId1"/>
          <a:srcRect/>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229C06-4718-4EB3-9718-20E841CD796A}" type="datetimeFigureOut">
              <a:rPr lang="en-IN" smtClean="0"/>
              <a:t>21-11-2024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17559-0081-4B04-9F7E-E3E6A2802309}" type="slidenum">
              <a:rPr lang="en-IN" smtClean="0"/>
              <a:t>‹#›</a:t>
            </a:fld>
            <a:endParaRPr lang="en-IN"/>
          </a:p>
        </p:txBody>
      </p:sp>
    </p:spTree>
    <p:extLst>
      <p:ext uri="{BB962C8B-B14F-4D97-AF65-F5344CB8AC3E}">
        <p14:creationId xmlns:p14="http://schemas.microsoft.com/office/powerpoint/2010/main" val="1877881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C17559-0081-4B04-9F7E-E3E6A2802309}" type="slidenum">
              <a:rPr lang="en-IN" smtClean="0"/>
              <a:t>4</a:t>
            </a:fld>
            <a:endParaRPr lang="en-IN"/>
          </a:p>
        </p:txBody>
      </p:sp>
    </p:spTree>
    <p:extLst>
      <p:ext uri="{BB962C8B-B14F-4D97-AF65-F5344CB8AC3E}">
        <p14:creationId xmlns:p14="http://schemas.microsoft.com/office/powerpoint/2010/main" val="306343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941683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1851981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1481976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695239-EA57-42E3-B96E-B65CF096BE9D}" type="datetimeFigureOut">
              <a:rPr lang="en-IN" smtClean="0"/>
              <a:t>21-11-2024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3172483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695239-EA57-42E3-B96E-B65CF096BE9D}" type="datetimeFigureOut">
              <a:rPr lang="en-IN" smtClean="0"/>
              <a:t>21-11-2024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3709659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695239-EA57-42E3-B96E-B65CF096BE9D}" type="datetimeFigureOut">
              <a:rPr lang="en-IN" smtClean="0"/>
              <a:t>21-11-2024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365031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695239-EA57-42E3-B96E-B65CF096BE9D}" type="datetimeFigureOut">
              <a:rPr lang="en-IN" smtClean="0"/>
              <a:t>21-11-2024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2336618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695239-EA57-42E3-B96E-B65CF096BE9D}" type="datetimeFigureOut">
              <a:rPr lang="en-IN" smtClean="0"/>
              <a:t>21-11-2024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4150418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695239-EA57-42E3-B96E-B65CF096BE9D}" type="datetimeFigureOut">
              <a:rPr lang="en-IN" smtClean="0"/>
              <a:t>21-11-2024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1231899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857201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5460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2687470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00831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2861196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1845916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695239-EA57-42E3-B96E-B65CF096BE9D}" type="datetimeFigureOut">
              <a:rPr lang="en-IN" smtClean="0"/>
              <a:t>21-11-2024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E261-5BD4-4800-96B6-F3012C049BFB}" type="slidenum">
              <a:rPr lang="en-IN" smtClean="0"/>
              <a:t>‹#›</a:t>
            </a:fld>
            <a:endParaRPr lang="en-IN"/>
          </a:p>
        </p:txBody>
      </p:sp>
    </p:spTree>
    <p:extLst>
      <p:ext uri="{BB962C8B-B14F-4D97-AF65-F5344CB8AC3E}">
        <p14:creationId xmlns:p14="http://schemas.microsoft.com/office/powerpoint/2010/main" val="1714262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695239-EA57-42E3-B96E-B65CF096BE9D}" type="datetimeFigureOut">
              <a:rPr lang="en-IN" smtClean="0"/>
              <a:t>21-11-2024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55DE261-5BD4-4800-96B6-F3012C049BFB}" type="slidenum">
              <a:rPr lang="en-IN" smtClean="0"/>
              <a:t>‹#›</a:t>
            </a:fld>
            <a:endParaRPr lang="en-IN"/>
          </a:p>
        </p:txBody>
      </p:sp>
    </p:spTree>
    <p:extLst>
      <p:ext uri="{BB962C8B-B14F-4D97-AF65-F5344CB8AC3E}">
        <p14:creationId xmlns:p14="http://schemas.microsoft.com/office/powerpoint/2010/main" val="384881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1835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FD43-9EA6-C96A-9ECC-917346CB86B5}"/>
              </a:ext>
            </a:extLst>
          </p:cNvPr>
          <p:cNvSpPr>
            <a:spLocks noGrp="1"/>
          </p:cNvSpPr>
          <p:nvPr>
            <p:ph type="title"/>
          </p:nvPr>
        </p:nvSpPr>
        <p:spPr>
          <a:xfrm>
            <a:off x="235670" y="194820"/>
            <a:ext cx="8596668" cy="757287"/>
          </a:xfrm>
        </p:spPr>
        <p:txBody>
          <a:bodyPr/>
          <a:lstStyle/>
          <a:p>
            <a:r>
              <a:rPr lang="en-IN" dirty="0"/>
              <a:t>Problem Statement</a:t>
            </a:r>
          </a:p>
        </p:txBody>
      </p:sp>
      <p:sp>
        <p:nvSpPr>
          <p:cNvPr id="3" name="Content Placeholder 2">
            <a:extLst>
              <a:ext uri="{FF2B5EF4-FFF2-40B4-BE49-F238E27FC236}">
                <a16:creationId xmlns:a16="http://schemas.microsoft.com/office/drawing/2014/main" id="{C10441D8-9573-8A8C-712A-8C414CE5E141}"/>
              </a:ext>
            </a:extLst>
          </p:cNvPr>
          <p:cNvSpPr>
            <a:spLocks noGrp="1"/>
          </p:cNvSpPr>
          <p:nvPr>
            <p:ph idx="1"/>
          </p:nvPr>
        </p:nvSpPr>
        <p:spPr>
          <a:xfrm>
            <a:off x="564212" y="952107"/>
            <a:ext cx="8596668" cy="5595053"/>
          </a:xfrm>
        </p:spPr>
        <p:txBody>
          <a:bodyPr>
            <a:normAutofit fontScale="85000" lnSpcReduction="20000"/>
          </a:bodyPr>
          <a:lstStyle/>
          <a:p>
            <a:pPr algn="just"/>
            <a:r>
              <a:rPr lang="en-US" sz="2100" b="1" dirty="0"/>
              <a:t>Project: Consumer Complaint Handling System</a:t>
            </a:r>
          </a:p>
          <a:p>
            <a:pPr algn="just"/>
            <a:r>
              <a:rPr lang="en-US" b="1" dirty="0"/>
              <a:t>Problem Statement:</a:t>
            </a:r>
            <a:r>
              <a:rPr lang="en-US" dirty="0"/>
              <a:t> In modern customer-centric industries, efficient handling of consumer complaints is crucial for maintaining satisfaction, trust, and brand loyalty. As businesses grow, they often face challenges in managing and resolving customer issues promptly and effectively. A robust complaint handling system is essential to streamline the process, reduce response times, and ensure that customer grievances are addressed and resolved efficiently.</a:t>
            </a:r>
          </a:p>
          <a:p>
            <a:pPr algn="just"/>
            <a:r>
              <a:rPr lang="en-US" b="1" dirty="0"/>
              <a:t>Tasks :</a:t>
            </a:r>
          </a:p>
          <a:p>
            <a:pPr algn="just">
              <a:buFont typeface="Arial" panose="020B0604020202020204" pitchFamily="34" charset="0"/>
              <a:buChar char="•"/>
            </a:pPr>
            <a:r>
              <a:rPr lang="en-US" dirty="0"/>
              <a:t>Accept consumer complaints through a web or mobile interface.</a:t>
            </a:r>
          </a:p>
          <a:p>
            <a:pPr algn="just">
              <a:buFont typeface="Arial" panose="020B0604020202020204" pitchFamily="34" charset="0"/>
              <a:buChar char="•"/>
            </a:pPr>
            <a:r>
              <a:rPr lang="en-US" dirty="0"/>
              <a:t>Automatically categorize complaints based on predefined criteria (e.g., product issues, service delays).</a:t>
            </a:r>
          </a:p>
          <a:p>
            <a:pPr algn="just">
              <a:buFont typeface="Arial" panose="020B0604020202020204" pitchFamily="34" charset="0"/>
              <a:buChar char="•"/>
            </a:pPr>
            <a:r>
              <a:rPr lang="en-US" dirty="0"/>
              <a:t>Assign complaints to the correct department or personnel for resolution.</a:t>
            </a:r>
          </a:p>
          <a:p>
            <a:pPr algn="just">
              <a:buFont typeface="Arial" panose="020B0604020202020204" pitchFamily="34" charset="0"/>
              <a:buChar char="•"/>
            </a:pPr>
            <a:r>
              <a:rPr lang="en-US" dirty="0"/>
              <a:t>Provide real-time tracking and status updates for customers.</a:t>
            </a:r>
          </a:p>
          <a:p>
            <a:pPr algn="just">
              <a:buFont typeface="Arial" panose="020B0604020202020204" pitchFamily="34" charset="0"/>
              <a:buChar char="•"/>
            </a:pPr>
            <a:r>
              <a:rPr lang="en-US" dirty="0"/>
              <a:t>Enable feedback collection after the complaint resolution.</a:t>
            </a:r>
          </a:p>
          <a:p>
            <a:pPr algn="just">
              <a:buFont typeface="Arial" panose="020B0604020202020204" pitchFamily="34" charset="0"/>
              <a:buChar char="•"/>
            </a:pPr>
            <a:r>
              <a:rPr lang="en-US" dirty="0"/>
              <a:t>Ensure data security and compliance with privacy regulations.</a:t>
            </a:r>
          </a:p>
          <a:p>
            <a:pPr algn="just"/>
            <a:r>
              <a:rPr lang="en-US" b="1" dirty="0"/>
              <a:t>Outcome :</a:t>
            </a:r>
            <a:r>
              <a:rPr lang="en-US" dirty="0"/>
              <a:t> The outcome of this project is to develop an automated Consumer Complaint Handling System that accepts customer complaints, categorizes them based on the type of issue, assigns them to the appropriate department or personnel, and tracks the resolution progress. The system should also allow for feedback on the resolution process to ensure continuous improvement. By automating the complaint handling process, businesses can enhance customer experience, reduce manual workload, and improve the quality of support services. The system should be designed to handle a large volume of complaints, prioritize critical issues, and maintain an efficient resolution workflow.</a:t>
            </a:r>
          </a:p>
        </p:txBody>
      </p:sp>
    </p:spTree>
    <p:extLst>
      <p:ext uri="{BB962C8B-B14F-4D97-AF65-F5344CB8AC3E}">
        <p14:creationId xmlns:p14="http://schemas.microsoft.com/office/powerpoint/2010/main" val="2912437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B6237-A4AC-E9BE-9177-14368EB7B7AF}"/>
              </a:ext>
            </a:extLst>
          </p:cNvPr>
          <p:cNvSpPr>
            <a:spLocks noGrp="1"/>
          </p:cNvSpPr>
          <p:nvPr>
            <p:ph type="title"/>
          </p:nvPr>
        </p:nvSpPr>
        <p:spPr>
          <a:xfrm>
            <a:off x="5696684" y="353219"/>
            <a:ext cx="3932237" cy="960437"/>
          </a:xfrm>
        </p:spPr>
        <p:txBody>
          <a:bodyPr/>
          <a:lstStyle/>
          <a:p>
            <a:r>
              <a:rPr lang="en-US" dirty="0"/>
              <a:t>AIM</a:t>
            </a:r>
            <a:endParaRPr lang="en-IN" dirty="0"/>
          </a:p>
        </p:txBody>
      </p:sp>
      <p:pic>
        <p:nvPicPr>
          <p:cNvPr id="6" name="Picture Placeholder 5">
            <a:extLst>
              <a:ext uri="{FF2B5EF4-FFF2-40B4-BE49-F238E27FC236}">
                <a16:creationId xmlns:a16="http://schemas.microsoft.com/office/drawing/2014/main" id="{60A45EF5-78EF-74F0-1475-926693F14426}"/>
              </a:ext>
            </a:extLst>
          </p:cNvPr>
          <p:cNvPicPr>
            <a:picLocks noGrp="1" noChangeAspect="1"/>
          </p:cNvPicPr>
          <p:nvPr>
            <p:ph type="pic" idx="1"/>
          </p:nvPr>
        </p:nvPicPr>
        <p:blipFill>
          <a:blip r:embed="rId2"/>
          <a:srcRect t="10520" b="10520"/>
          <a:stretch>
            <a:fillRect/>
          </a:stretch>
        </p:blipFill>
        <p:spPr>
          <a:xfrm>
            <a:off x="479425" y="833438"/>
            <a:ext cx="4997548" cy="4873625"/>
          </a:xfrm>
        </p:spPr>
      </p:pic>
      <p:sp>
        <p:nvSpPr>
          <p:cNvPr id="4" name="Text Placeholder 3">
            <a:extLst>
              <a:ext uri="{FF2B5EF4-FFF2-40B4-BE49-F238E27FC236}">
                <a16:creationId xmlns:a16="http://schemas.microsoft.com/office/drawing/2014/main" id="{B45FB7B7-E69D-9F7C-61C6-07498E106D16}"/>
              </a:ext>
            </a:extLst>
          </p:cNvPr>
          <p:cNvSpPr>
            <a:spLocks noGrp="1"/>
          </p:cNvSpPr>
          <p:nvPr>
            <p:ph type="body" sz="half" idx="2"/>
          </p:nvPr>
        </p:nvSpPr>
        <p:spPr>
          <a:xfrm>
            <a:off x="5696685" y="1409191"/>
            <a:ext cx="3932237" cy="4873625"/>
          </a:xfrm>
        </p:spPr>
        <p:txBody>
          <a:bodyPr>
            <a:noAutofit/>
          </a:bodyPr>
          <a:lstStyle/>
          <a:p>
            <a:pPr lvl="0">
              <a:lnSpc>
                <a:spcPct val="100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1.Objective:</a:t>
            </a:r>
          </a:p>
          <a:p>
            <a:pPr lvl="0">
              <a:lnSpc>
                <a:spcPct val="100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develop an automated system for handling consumer complaints in an organized and efficient manner.</a:t>
            </a:r>
            <a:endParaRPr lang="en-US" sz="1400" kern="100" dirty="0">
              <a:latin typeface="Calibri" panose="020F0502020204030204" pitchFamily="34" charset="0"/>
              <a:ea typeface="Calibri" panose="020F0502020204030204" pitchFamily="34" charset="0"/>
              <a:cs typeface="Times New Roman" panose="02020603050405020304" pitchFamily="18" charset="0"/>
            </a:endParaRPr>
          </a:p>
          <a:p>
            <a:pPr lvl="0">
              <a:lnSpc>
                <a:spcPct val="100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•The system should streamline the process of registering complaints, categorizing them, assigning responsibilities, tracking progress, and obtaining feedback.</a:t>
            </a:r>
          </a:p>
          <a:p>
            <a:pPr lvl="0">
              <a:lnSpc>
                <a:spcPct val="100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2.Benefits:</a:t>
            </a:r>
          </a:p>
          <a:p>
            <a:pPr lvl="0">
              <a:lnSpc>
                <a:spcPct val="100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•Improved customer experience: Timely and transparent complaint resolution.</a:t>
            </a:r>
          </a:p>
          <a:p>
            <a:pPr lvl="0">
              <a:lnSpc>
                <a:spcPct val="100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•Operational efficiency: Reduced manual workload, faster response times.</a:t>
            </a:r>
          </a:p>
          <a:p>
            <a:pPr lvl="0">
              <a:lnSpc>
                <a:spcPct val="100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•Continuous improvement: By analyzing feedback, businesses can enhance their services.</a:t>
            </a:r>
          </a:p>
          <a:p>
            <a:pPr lvl="0">
              <a:lnSpc>
                <a:spcPct val="100000"/>
              </a:lnSpc>
              <a:spcAft>
                <a:spcPts val="800"/>
              </a:spcAft>
              <a:tabLst>
                <a:tab pos="457200" algn="l"/>
              </a:tabLst>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9971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6B274A-2B40-FCF0-7F44-DD21D5C790C0}"/>
              </a:ext>
            </a:extLst>
          </p:cNvPr>
          <p:cNvSpPr>
            <a:spLocks noGrp="1"/>
          </p:cNvSpPr>
          <p:nvPr>
            <p:ph type="title"/>
          </p:nvPr>
        </p:nvSpPr>
        <p:spPr>
          <a:xfrm>
            <a:off x="0" y="637032"/>
            <a:ext cx="8596668" cy="1320800"/>
          </a:xfrm>
        </p:spPr>
        <p:txBody>
          <a:bodyPr/>
          <a:lstStyle/>
          <a:p>
            <a:pPr algn="ctr"/>
            <a:r>
              <a:rPr lang="en-US" dirty="0"/>
              <a:t>ABSTRACT</a:t>
            </a:r>
            <a:endParaRPr lang="en-IN" dirty="0"/>
          </a:p>
        </p:txBody>
      </p:sp>
      <p:sp>
        <p:nvSpPr>
          <p:cNvPr id="6" name="TextBox 5">
            <a:extLst>
              <a:ext uri="{FF2B5EF4-FFF2-40B4-BE49-F238E27FC236}">
                <a16:creationId xmlns:a16="http://schemas.microsoft.com/office/drawing/2014/main" id="{371123CB-6BCD-ED21-0D37-36BC43685CDE}"/>
              </a:ext>
            </a:extLst>
          </p:cNvPr>
          <p:cNvSpPr txBox="1"/>
          <p:nvPr/>
        </p:nvSpPr>
        <p:spPr>
          <a:xfrm>
            <a:off x="1097280" y="1545336"/>
            <a:ext cx="7324344" cy="4524315"/>
          </a:xfrm>
          <a:prstGeom prst="rect">
            <a:avLst/>
          </a:prstGeom>
          <a:noFill/>
        </p:spPr>
        <p:txBody>
          <a:bodyPr wrap="square" rtlCol="0">
            <a:spAutoFit/>
          </a:bodyPr>
          <a:lstStyle/>
          <a:p>
            <a:pPr algn="just"/>
            <a:r>
              <a:rPr lang="en-US" dirty="0"/>
              <a:t>The Consumer Complaint Handling System is a C-based application that automates complaint registration and management. It enables customers to file complaints, which are categorized and assigned to relevant personnel for resolution. Each complaint is tracked with a unique ID, ensuring transparency throughout the process. The system updates complaint statuses and allows for feedback collection post-resolution. Using file handling, complaints are stored in text files, allowing easy retrieval and updates. This lightweight application aims to reduce manual intervention, enhancing business operations. It provides a foundation for businesses to manage customer complaints efficiently and improves the quality of service. The system minimizes errors and delays by automating complaint categorization and status updates. The system is designed with simplicity and efficiency in mind, making it easy to use and implement. It demonstrates the practical application of C programming to solve real-world problems.</a:t>
            </a:r>
            <a:endParaRPr lang="en-IN" dirty="0"/>
          </a:p>
        </p:txBody>
      </p:sp>
    </p:spTree>
    <p:extLst>
      <p:ext uri="{BB962C8B-B14F-4D97-AF65-F5344CB8AC3E}">
        <p14:creationId xmlns:p14="http://schemas.microsoft.com/office/powerpoint/2010/main" val="3106948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933B4-7EAB-A341-56BD-5C91DB840B57}"/>
              </a:ext>
            </a:extLst>
          </p:cNvPr>
          <p:cNvSpPr>
            <a:spLocks noGrp="1"/>
          </p:cNvSpPr>
          <p:nvPr>
            <p:ph type="title"/>
          </p:nvPr>
        </p:nvSpPr>
        <p:spPr>
          <a:xfrm>
            <a:off x="677335" y="177123"/>
            <a:ext cx="8596668" cy="1826581"/>
          </a:xfrm>
        </p:spPr>
        <p:txBody>
          <a:bodyPr/>
          <a:lstStyle/>
          <a:p>
            <a:r>
              <a:rPr lang="en-US" dirty="0"/>
              <a:t>INTRODUCTION</a:t>
            </a:r>
            <a:endParaRPr lang="en-IN" dirty="0"/>
          </a:p>
        </p:txBody>
      </p:sp>
      <p:sp>
        <p:nvSpPr>
          <p:cNvPr id="3" name="Text Placeholder 2">
            <a:extLst>
              <a:ext uri="{FF2B5EF4-FFF2-40B4-BE49-F238E27FC236}">
                <a16:creationId xmlns:a16="http://schemas.microsoft.com/office/drawing/2014/main" id="{6F49490B-364C-78B2-10E9-5EBF131049D4}"/>
              </a:ext>
            </a:extLst>
          </p:cNvPr>
          <p:cNvSpPr>
            <a:spLocks noGrp="1"/>
          </p:cNvSpPr>
          <p:nvPr>
            <p:ph type="body" idx="1"/>
          </p:nvPr>
        </p:nvSpPr>
        <p:spPr>
          <a:xfrm>
            <a:off x="677335" y="2442616"/>
            <a:ext cx="8596668" cy="860400"/>
          </a:xfrm>
        </p:spPr>
        <p:txBody>
          <a:bodyPr>
            <a:noAutofit/>
          </a:bodyPr>
          <a:lstStyle/>
          <a:p>
            <a:r>
              <a:rPr lang="en-US" sz="2400" dirty="0"/>
              <a:t>Efficient complaint handling is crucial for maintaining customer satisfaction. This system automates the process, enabling businesses to register, categorize, and resolve complaints quickly. It ensures complaints are tracked with unique IDs and updated statuses, with feedback collected after resolution. Built in C programming, it minimizes manual work and can be expanded with future technologies like databases or mobile interfaces.</a:t>
            </a:r>
            <a:endParaRPr lang="en-IN" sz="2400" dirty="0"/>
          </a:p>
        </p:txBody>
      </p:sp>
    </p:spTree>
    <p:extLst>
      <p:ext uri="{BB962C8B-B14F-4D97-AF65-F5344CB8AC3E}">
        <p14:creationId xmlns:p14="http://schemas.microsoft.com/office/powerpoint/2010/main" val="2976690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092C1-77E7-DE43-C0E3-5C9E680647C6}"/>
              </a:ext>
            </a:extLst>
          </p:cNvPr>
          <p:cNvSpPr>
            <a:spLocks noGrp="1"/>
          </p:cNvSpPr>
          <p:nvPr>
            <p:ph type="title"/>
          </p:nvPr>
        </p:nvSpPr>
        <p:spPr>
          <a:xfrm>
            <a:off x="448121" y="1190312"/>
            <a:ext cx="587141" cy="5438909"/>
          </a:xfrm>
        </p:spPr>
        <p:txBody>
          <a:bodyPr vert="vert270">
            <a:normAutofit fontScale="90000"/>
          </a:bodyPr>
          <a:lstStyle/>
          <a:p>
            <a:r>
              <a:rPr lang="en-US" dirty="0"/>
              <a:t>CODE IMPLIMENTATION</a:t>
            </a:r>
            <a:endParaRPr lang="en-IN" dirty="0"/>
          </a:p>
        </p:txBody>
      </p:sp>
      <p:sp>
        <p:nvSpPr>
          <p:cNvPr id="3" name="TextBox 2">
            <a:extLst>
              <a:ext uri="{FF2B5EF4-FFF2-40B4-BE49-F238E27FC236}">
                <a16:creationId xmlns:a16="http://schemas.microsoft.com/office/drawing/2014/main" id="{43CF5E7E-021D-7619-0457-DE49C95647DF}"/>
              </a:ext>
            </a:extLst>
          </p:cNvPr>
          <p:cNvSpPr txBox="1"/>
          <p:nvPr/>
        </p:nvSpPr>
        <p:spPr>
          <a:xfrm>
            <a:off x="1510173" y="518073"/>
            <a:ext cx="9442383" cy="6730048"/>
          </a:xfrm>
          <a:prstGeom prst="rect">
            <a:avLst/>
          </a:prstGeom>
          <a:noFill/>
        </p:spPr>
        <p:txBody>
          <a:bodyPr wrap="square" rtlCol="0">
            <a:spAutoFit/>
          </a:bodyPr>
          <a:lstStyle/>
          <a:p>
            <a:pPr>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Complaint Registration: Accept customer details and complaint information.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Complaint Categorization: Categorize complaints based on predefined criteria.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Assignment: Assign the complaint to the appropriate department or personnel.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Status Tracking: Update and display the status of complaints.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Feedback Collection: Record customer feedback on resolution.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Data Storage: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Use text files (e.g., complaints.txt) to store complaints.</a:t>
            </a:r>
          </a:p>
          <a:p>
            <a:pPr marL="342900" lvl="0" indent="-342900">
              <a:buFont typeface="Symbol" panose="05050102010706020507" pitchFamily="18" charset="2"/>
              <a:buChar char=""/>
            </a:pPr>
            <a:r>
              <a:rPr lang="en-IN" kern="100" dirty="0">
                <a:latin typeface="Times New Roman" panose="02020603050405020304" pitchFamily="18" charset="0"/>
                <a:ea typeface="Calibri" panose="020F0502020204030204" pitchFamily="34" charset="0"/>
                <a:cs typeface="Times New Roman" panose="02020603050405020304" pitchFamily="18" charset="0"/>
              </a:rPr>
              <a:t>For encryption and privacy backend support is needed.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Use structured formats for storing data (e.g., CSV or fixed-width records).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Flow:</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Main menu for user interaction.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Sub-menus for various functionalities.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Code Outline: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Struct Definition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Functions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Register Complaint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View Complaints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Update Complaint Status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0">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3.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Main Menu</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12390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98096-AE15-4410-A5FA-D8F4995FF65F}"/>
              </a:ext>
            </a:extLst>
          </p:cNvPr>
          <p:cNvSpPr>
            <a:spLocks noGrp="1"/>
          </p:cNvSpPr>
          <p:nvPr>
            <p:ph type="title"/>
          </p:nvPr>
        </p:nvSpPr>
        <p:spPr/>
        <p:txBody>
          <a:bodyPr/>
          <a:lstStyle/>
          <a:p>
            <a:r>
              <a:rPr lang="en-US" dirty="0"/>
              <a:t>RESULTS</a:t>
            </a:r>
            <a:endParaRPr lang="en-IN" dirty="0"/>
          </a:p>
        </p:txBody>
      </p:sp>
      <p:pic>
        <p:nvPicPr>
          <p:cNvPr id="5" name="Picture 4">
            <a:extLst>
              <a:ext uri="{FF2B5EF4-FFF2-40B4-BE49-F238E27FC236}">
                <a16:creationId xmlns:a16="http://schemas.microsoft.com/office/drawing/2014/main" id="{FEC9E873-4B0E-8935-86A4-2BD64071D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1" y="1294358"/>
            <a:ext cx="4010557" cy="5231384"/>
          </a:xfrm>
          <a:prstGeom prst="rect">
            <a:avLst/>
          </a:prstGeom>
        </p:spPr>
      </p:pic>
      <p:pic>
        <p:nvPicPr>
          <p:cNvPr id="8" name="Picture 7">
            <a:extLst>
              <a:ext uri="{FF2B5EF4-FFF2-40B4-BE49-F238E27FC236}">
                <a16:creationId xmlns:a16="http://schemas.microsoft.com/office/drawing/2014/main" id="{814974CB-04C8-999B-1351-132CF70533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7796" y="1294358"/>
            <a:ext cx="3813242" cy="5231384"/>
          </a:xfrm>
          <a:prstGeom prst="rect">
            <a:avLst/>
          </a:prstGeom>
        </p:spPr>
      </p:pic>
      <p:pic>
        <p:nvPicPr>
          <p:cNvPr id="10" name="Picture 9">
            <a:extLst>
              <a:ext uri="{FF2B5EF4-FFF2-40B4-BE49-F238E27FC236}">
                <a16:creationId xmlns:a16="http://schemas.microsoft.com/office/drawing/2014/main" id="{6C80C445-BA38-30F5-F8AF-4B1173B8E7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1038" y="1294358"/>
            <a:ext cx="4010557" cy="1981477"/>
          </a:xfrm>
          <a:prstGeom prst="rect">
            <a:avLst/>
          </a:prstGeom>
        </p:spPr>
      </p:pic>
    </p:spTree>
    <p:extLst>
      <p:ext uri="{BB962C8B-B14F-4D97-AF65-F5344CB8AC3E}">
        <p14:creationId xmlns:p14="http://schemas.microsoft.com/office/powerpoint/2010/main" val="2784639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9425A-15D4-BA75-15EE-9B70E9906C4E}"/>
              </a:ext>
            </a:extLst>
          </p:cNvPr>
          <p:cNvSpPr>
            <a:spLocks noGrp="1"/>
          </p:cNvSpPr>
          <p:nvPr>
            <p:ph type="title"/>
          </p:nvPr>
        </p:nvSpPr>
        <p:spPr>
          <a:xfrm>
            <a:off x="70546" y="127802"/>
            <a:ext cx="8596668" cy="1320800"/>
          </a:xfrm>
        </p:spPr>
        <p:txBody>
          <a:bodyPr/>
          <a:lstStyle/>
          <a:p>
            <a:r>
              <a:rPr lang="en-IN" dirty="0"/>
              <a:t>Engineering Standards</a:t>
            </a:r>
          </a:p>
        </p:txBody>
      </p:sp>
      <p:sp>
        <p:nvSpPr>
          <p:cNvPr id="4" name="TextBox 3">
            <a:extLst>
              <a:ext uri="{FF2B5EF4-FFF2-40B4-BE49-F238E27FC236}">
                <a16:creationId xmlns:a16="http://schemas.microsoft.com/office/drawing/2014/main" id="{30BBA949-4E4B-FE68-5B25-6AEC1D248EC6}"/>
              </a:ext>
            </a:extLst>
          </p:cNvPr>
          <p:cNvSpPr txBox="1"/>
          <p:nvPr/>
        </p:nvSpPr>
        <p:spPr>
          <a:xfrm>
            <a:off x="325676" y="788202"/>
            <a:ext cx="4573582" cy="5016758"/>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1.BASIC PROGRAMMING STANDARDS</a:t>
            </a:r>
          </a:p>
          <a:p>
            <a:r>
              <a:rPr lang="en-US" sz="1600" b="1" dirty="0">
                <a:latin typeface="Times New Roman" panose="02020603050405020304" pitchFamily="18" charset="0"/>
                <a:cs typeface="Times New Roman" panose="02020603050405020304" pitchFamily="18" charset="0"/>
              </a:rPr>
              <a:t>ISO/IEC 9899 - C Language Standards</a:t>
            </a:r>
          </a:p>
          <a:p>
            <a:r>
              <a:rPr lang="en-US" sz="1600" dirty="0" err="1">
                <a:latin typeface="Times New Roman" panose="02020603050405020304" pitchFamily="18" charset="0"/>
                <a:cs typeface="Times New Roman" panose="02020603050405020304" pitchFamily="18" charset="0"/>
              </a:rPr>
              <a:t>i.ISO</a:t>
            </a:r>
            <a:r>
              <a:rPr lang="en-US" sz="1600" dirty="0">
                <a:latin typeface="Times New Roman" panose="02020603050405020304" pitchFamily="18" charset="0"/>
                <a:cs typeface="Times New Roman" panose="02020603050405020304" pitchFamily="18" charset="0"/>
              </a:rPr>
              <a:t>/IEC 9899:1990 (C90)</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Original standard, also known as ANSI C.</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Standardized the C language with improvements over K&amp;R C.</a:t>
            </a:r>
          </a:p>
          <a:p>
            <a:r>
              <a:rPr lang="en-US" sz="1600" dirty="0" err="1">
                <a:latin typeface="Times New Roman" panose="02020603050405020304" pitchFamily="18" charset="0"/>
                <a:cs typeface="Times New Roman" panose="02020603050405020304" pitchFamily="18" charset="0"/>
              </a:rPr>
              <a:t>ii.ISO</a:t>
            </a:r>
            <a:r>
              <a:rPr lang="en-US" sz="1600" dirty="0">
                <a:latin typeface="Times New Roman" panose="02020603050405020304" pitchFamily="18" charset="0"/>
                <a:cs typeface="Times New Roman" panose="02020603050405020304" pitchFamily="18" charset="0"/>
              </a:rPr>
              <a:t>/IEC 9899:1999 (C99)</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Introduced new data types (long </a:t>
            </a:r>
            <a:r>
              <a:rPr lang="en-US" sz="1600" dirty="0" err="1">
                <a:latin typeface="Times New Roman" panose="02020603050405020304" pitchFamily="18" charset="0"/>
                <a:cs typeface="Times New Roman" panose="02020603050405020304" pitchFamily="18" charset="0"/>
              </a:rPr>
              <a:t>long</a:t>
            </a:r>
            <a:r>
              <a:rPr lang="en-US" sz="1600" dirty="0">
                <a:latin typeface="Times New Roman" panose="02020603050405020304" pitchFamily="18" charset="0"/>
                <a:cs typeface="Times New Roman" panose="02020603050405020304" pitchFamily="18" charset="0"/>
              </a:rPr>
              <a:t> int, _Bool).</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Added inline functions.</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Supported variable-length arrays.</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Added new standard library functions.</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Improved type checking.</a:t>
            </a:r>
          </a:p>
          <a:p>
            <a:r>
              <a:rPr lang="en-US" sz="1600" dirty="0" err="1">
                <a:latin typeface="Times New Roman" panose="02020603050405020304" pitchFamily="18" charset="0"/>
                <a:cs typeface="Times New Roman" panose="02020603050405020304" pitchFamily="18" charset="0"/>
              </a:rPr>
              <a:t>iii.ISO</a:t>
            </a:r>
            <a:r>
              <a:rPr lang="en-US" sz="1600" dirty="0">
                <a:latin typeface="Times New Roman" panose="02020603050405020304" pitchFamily="18" charset="0"/>
                <a:cs typeface="Times New Roman" panose="02020603050405020304" pitchFamily="18" charset="0"/>
              </a:rPr>
              <a:t>/IEC 9899:2018 (C17)</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Bug-fix release with no major new features.</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Improved clarity and fixed defects in C11.</a:t>
            </a:r>
          </a:p>
          <a:p>
            <a:r>
              <a:rPr lang="en-US" sz="1600" dirty="0" err="1">
                <a:latin typeface="Times New Roman" panose="02020603050405020304" pitchFamily="18" charset="0"/>
                <a:cs typeface="Times New Roman" panose="02020603050405020304" pitchFamily="18" charset="0"/>
              </a:rPr>
              <a:t>iv.ISO</a:t>
            </a:r>
            <a:r>
              <a:rPr lang="en-US" sz="1600" dirty="0">
                <a:latin typeface="Times New Roman" panose="02020603050405020304" pitchFamily="18" charset="0"/>
                <a:cs typeface="Times New Roman" panose="02020603050405020304" pitchFamily="18" charset="0"/>
              </a:rPr>
              <a:t>/IEC 9899:202x (C2x)</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Upcoming standard (under development as of 2024).</a:t>
            </a:r>
          </a:p>
          <a:p>
            <a:pPr marL="171450" indent="-1714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Expected to introduce further improvements and updates.</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967E2FC-C97B-1A7C-4B9F-B1CD892853A8}"/>
              </a:ext>
            </a:extLst>
          </p:cNvPr>
          <p:cNvSpPr txBox="1"/>
          <p:nvPr/>
        </p:nvSpPr>
        <p:spPr>
          <a:xfrm>
            <a:off x="4827130" y="788202"/>
            <a:ext cx="5111015" cy="3693319"/>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2.Software Engineering Standards</a:t>
            </a:r>
          </a:p>
          <a:p>
            <a:r>
              <a:rPr lang="en-IN" sz="1800" dirty="0" err="1">
                <a:latin typeface="Times New Roman" panose="02020603050405020304" pitchFamily="18" charset="0"/>
                <a:cs typeface="Times New Roman" panose="02020603050405020304" pitchFamily="18" charset="0"/>
              </a:rPr>
              <a:t>i.ISO</a:t>
            </a:r>
            <a:r>
              <a:rPr lang="en-IN" sz="1800" dirty="0">
                <a:latin typeface="Times New Roman" panose="02020603050405020304" pitchFamily="18" charset="0"/>
                <a:cs typeface="Times New Roman" panose="02020603050405020304" pitchFamily="18" charset="0"/>
              </a:rPr>
              <a:t>/IEC 12207 (SDLC)</a:t>
            </a:r>
          </a:p>
          <a:p>
            <a:pPr marL="3429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Provides a structured framework for the software development lifecycle.</a:t>
            </a:r>
          </a:p>
          <a:p>
            <a:r>
              <a:rPr lang="en-IN" sz="1800" dirty="0" err="1">
                <a:latin typeface="Times New Roman" panose="02020603050405020304" pitchFamily="18" charset="0"/>
                <a:cs typeface="Times New Roman" panose="02020603050405020304" pitchFamily="18" charset="0"/>
              </a:rPr>
              <a:t>ii.IEEE</a:t>
            </a:r>
            <a:r>
              <a:rPr lang="en-IN" sz="1800" dirty="0">
                <a:latin typeface="Times New Roman" panose="02020603050405020304" pitchFamily="18" charset="0"/>
                <a:cs typeface="Times New Roman" panose="02020603050405020304" pitchFamily="18" charset="0"/>
              </a:rPr>
              <a:t> 829 (Testing Documentation)</a:t>
            </a:r>
          </a:p>
          <a:p>
            <a:pPr marL="3429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Standardizes documentation for thorough and traceable software testing.</a:t>
            </a:r>
          </a:p>
          <a:p>
            <a:r>
              <a:rPr lang="en-IN" sz="1800" dirty="0" err="1">
                <a:latin typeface="Times New Roman" panose="02020603050405020304" pitchFamily="18" charset="0"/>
                <a:cs typeface="Times New Roman" panose="02020603050405020304" pitchFamily="18" charset="0"/>
              </a:rPr>
              <a:t>iii.ISO</a:t>
            </a:r>
            <a:r>
              <a:rPr lang="en-IN" sz="1800" dirty="0">
                <a:latin typeface="Times New Roman" panose="02020603050405020304" pitchFamily="18" charset="0"/>
                <a:cs typeface="Times New Roman" panose="02020603050405020304" pitchFamily="18" charset="0"/>
              </a:rPr>
              <a:t>/IEC 25010 (Software Quality)</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Defines quality attributes like functionality, performance, and maintainability.</a:t>
            </a:r>
          </a:p>
          <a:p>
            <a:pPr marL="3429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Usability &amp; QA Guidelines: Ensures efficient performance, ease of maintenance, and user-centric design.</a:t>
            </a:r>
          </a:p>
        </p:txBody>
      </p:sp>
    </p:spTree>
    <p:extLst>
      <p:ext uri="{BB962C8B-B14F-4D97-AF65-F5344CB8AC3E}">
        <p14:creationId xmlns:p14="http://schemas.microsoft.com/office/powerpoint/2010/main" val="3746667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3F8CB-7BA3-772B-D0EA-188BBF50E27C}"/>
              </a:ext>
            </a:extLst>
          </p:cNvPr>
          <p:cNvSpPr>
            <a:spLocks noGrp="1"/>
          </p:cNvSpPr>
          <p:nvPr>
            <p:ph type="title"/>
          </p:nvPr>
        </p:nvSpPr>
        <p:spPr/>
        <p:txBody>
          <a:bodyPr/>
          <a:lstStyle/>
          <a:p>
            <a:r>
              <a:rPr lang="en-IN" dirty="0"/>
              <a:t>Future Scope</a:t>
            </a:r>
          </a:p>
        </p:txBody>
      </p:sp>
      <p:sp>
        <p:nvSpPr>
          <p:cNvPr id="3" name="TextBox 2">
            <a:extLst>
              <a:ext uri="{FF2B5EF4-FFF2-40B4-BE49-F238E27FC236}">
                <a16:creationId xmlns:a16="http://schemas.microsoft.com/office/drawing/2014/main" id="{9EFD6CEB-09A3-5409-AE44-120CA5B2336E}"/>
              </a:ext>
            </a:extLst>
          </p:cNvPr>
          <p:cNvSpPr txBox="1"/>
          <p:nvPr/>
        </p:nvSpPr>
        <p:spPr>
          <a:xfrm>
            <a:off x="677334" y="1351508"/>
            <a:ext cx="7218948" cy="5078313"/>
          </a:xfrm>
          <a:prstGeom prst="rect">
            <a:avLst/>
          </a:prstGeom>
          <a:noFill/>
        </p:spPr>
        <p:txBody>
          <a:bodyPr wrap="square" rtlCol="0">
            <a:spAutoFit/>
          </a:bodyPr>
          <a:lstStyle/>
          <a:p>
            <a:pPr algn="l" rtl="0" eaLnBrk="1" latinLnBrk="0" hangingPunct="1">
              <a:buClrTx/>
              <a:buSzPts val="2400"/>
            </a:pPr>
            <a:r>
              <a:rPr lang="en-US" kern="1200" dirty="0">
                <a:solidFill>
                  <a:srgbClr val="000000"/>
                </a:solidFill>
                <a:effectLst/>
                <a:latin typeface="Times New Roman" panose="02020603050405020304" pitchFamily="18" charset="0"/>
                <a:cs typeface="Times New Roman" panose="02020603050405020304" pitchFamily="18" charset="0"/>
              </a:rPr>
              <a:t>Future improvements include integrating a database for better data management, developing web and mobile interfaces, and using machine learning for automatic complaint categorization. Real-time tracking, multi-language support, and integration with CRM tools like Salesforce are also potential enhancements. These features would make the system more accessible, intelligent, and scalable for future business needs.</a:t>
            </a:r>
          </a:p>
          <a:p>
            <a:pPr algn="l" rtl="0" eaLnBrk="1" latinLnBrk="0" hangingPunct="1">
              <a:buClrTx/>
              <a:buSzPts val="2400"/>
            </a:pPr>
            <a:endParaRPr lang="en-IN" kern="1200" dirty="0">
              <a:solidFill>
                <a:srgbClr val="000000"/>
              </a:solidFill>
              <a:effectLst/>
              <a:latin typeface="Times New Roman" panose="02020603050405020304" pitchFamily="18" charset="0"/>
              <a:cs typeface="Times New Roman" panose="02020603050405020304" pitchFamily="18" charset="0"/>
            </a:endParaRPr>
          </a:p>
          <a:p>
            <a:pPr marL="347472" indent="-347472" algn="l" rtl="0" eaLnBrk="1" latinLnBrk="0" hangingPunct="1">
              <a:buClrTx/>
              <a:buSzPts val="2400"/>
              <a:buFont typeface="Arial" panose="020B0604020202020204" pitchFamily="34" charset="0"/>
              <a:buChar char="•"/>
            </a:pPr>
            <a:r>
              <a:rPr lang="en-IN" kern="1200" dirty="0">
                <a:solidFill>
                  <a:srgbClr val="000000"/>
                </a:solidFill>
                <a:effectLst/>
                <a:latin typeface="Times New Roman" panose="02020603050405020304" pitchFamily="18" charset="0"/>
                <a:cs typeface="Times New Roman" panose="02020603050405020304" pitchFamily="18" charset="0"/>
              </a:rPr>
              <a:t>Retail Consumer Support System</a:t>
            </a:r>
            <a:endParaRPr lang="en-IN" dirty="0">
              <a:effectLst/>
              <a:latin typeface="Times New Roman" panose="02020603050405020304" pitchFamily="18" charset="0"/>
              <a:cs typeface="Times New Roman" panose="02020603050405020304" pitchFamily="18" charset="0"/>
            </a:endParaRPr>
          </a:p>
          <a:p>
            <a:pPr marL="347472" indent="-347472" algn="l" rtl="0" eaLnBrk="1" latinLnBrk="0" hangingPunct="1">
              <a:buFont typeface="Arial" panose="020B0604020202020204" pitchFamily="34" charset="0"/>
              <a:buChar char="•"/>
            </a:pPr>
            <a:r>
              <a:rPr lang="en-IN" kern="1200" dirty="0">
                <a:solidFill>
                  <a:srgbClr val="000000"/>
                </a:solidFill>
                <a:effectLst/>
                <a:latin typeface="Times New Roman" panose="02020603050405020304" pitchFamily="18" charset="0"/>
                <a:cs typeface="Times New Roman" panose="02020603050405020304" pitchFamily="18" charset="0"/>
              </a:rPr>
              <a:t>Service Provider Complaint Management</a:t>
            </a:r>
            <a:endParaRPr lang="en-IN" dirty="0">
              <a:effectLst/>
              <a:latin typeface="Times New Roman" panose="02020603050405020304" pitchFamily="18" charset="0"/>
              <a:cs typeface="Times New Roman" panose="02020603050405020304" pitchFamily="18" charset="0"/>
            </a:endParaRPr>
          </a:p>
          <a:p>
            <a:pPr marL="347472" indent="-347472" algn="l" rtl="0" eaLnBrk="1" latinLnBrk="0" hangingPunct="1">
              <a:buFont typeface="Arial" panose="020B0604020202020204" pitchFamily="34" charset="0"/>
              <a:buChar char="•"/>
            </a:pPr>
            <a:r>
              <a:rPr lang="en-IN" kern="1200" dirty="0">
                <a:solidFill>
                  <a:srgbClr val="000000"/>
                </a:solidFill>
                <a:effectLst/>
                <a:latin typeface="Times New Roman" panose="02020603050405020304" pitchFamily="18" charset="0"/>
                <a:cs typeface="Times New Roman" panose="02020603050405020304" pitchFamily="18" charset="0"/>
              </a:rPr>
              <a:t>Product Quality Feedback System</a:t>
            </a:r>
            <a:endParaRPr lang="en-IN" dirty="0">
              <a:effectLst/>
              <a:latin typeface="Times New Roman" panose="02020603050405020304" pitchFamily="18" charset="0"/>
              <a:cs typeface="Times New Roman" panose="02020603050405020304" pitchFamily="18" charset="0"/>
            </a:endParaRPr>
          </a:p>
          <a:p>
            <a:pPr marL="347472" indent="-347472" algn="l" rtl="0" eaLnBrk="1" latinLnBrk="0" hangingPunct="1">
              <a:buFont typeface="Arial" panose="020B0604020202020204" pitchFamily="34" charset="0"/>
              <a:buChar char="•"/>
            </a:pPr>
            <a:r>
              <a:rPr lang="en-IN" kern="1200" dirty="0">
                <a:solidFill>
                  <a:srgbClr val="000000"/>
                </a:solidFill>
                <a:effectLst/>
                <a:latin typeface="Times New Roman" panose="02020603050405020304" pitchFamily="18" charset="0"/>
                <a:cs typeface="Times New Roman" panose="02020603050405020304" pitchFamily="18" charset="0"/>
              </a:rPr>
              <a:t>E-Commerce Complaint System</a:t>
            </a:r>
            <a:endParaRPr lang="en-IN" dirty="0">
              <a:effectLst/>
              <a:latin typeface="Times New Roman" panose="02020603050405020304" pitchFamily="18" charset="0"/>
              <a:cs typeface="Times New Roman" panose="02020603050405020304" pitchFamily="18" charset="0"/>
            </a:endParaRPr>
          </a:p>
          <a:p>
            <a:pPr marL="347472" indent="-347472" algn="l" rtl="0" eaLnBrk="1" latinLnBrk="0" hangingPunct="1">
              <a:buFont typeface="Arial" panose="020B0604020202020204" pitchFamily="34" charset="0"/>
              <a:buChar char="•"/>
            </a:pPr>
            <a:r>
              <a:rPr lang="en-US" kern="1200" dirty="0">
                <a:solidFill>
                  <a:srgbClr val="000000"/>
                </a:solidFill>
                <a:effectLst/>
                <a:latin typeface="Times New Roman" panose="02020603050405020304" pitchFamily="18" charset="0"/>
                <a:cs typeface="Times New Roman" panose="02020603050405020304" pitchFamily="18" charset="0"/>
              </a:rPr>
              <a:t>Hotel or Hospitality Industry Complaint Management</a:t>
            </a:r>
            <a:endParaRPr lang="en-IN" dirty="0">
              <a:effectLst/>
              <a:latin typeface="Times New Roman" panose="02020603050405020304" pitchFamily="18" charset="0"/>
              <a:cs typeface="Times New Roman" panose="02020603050405020304" pitchFamily="18" charset="0"/>
            </a:endParaRPr>
          </a:p>
          <a:p>
            <a:pPr marL="347472" indent="-347472" algn="l" rtl="0" eaLnBrk="1" latinLnBrk="0" hangingPunct="1">
              <a:buFont typeface="Arial" panose="020B0604020202020204" pitchFamily="34" charset="0"/>
              <a:buChar char="•"/>
            </a:pPr>
            <a:r>
              <a:rPr lang="en-US" kern="1200" dirty="0">
                <a:solidFill>
                  <a:srgbClr val="000000"/>
                </a:solidFill>
                <a:effectLst/>
                <a:latin typeface="Times New Roman" panose="02020603050405020304" pitchFamily="18" charset="0"/>
                <a:cs typeface="Times New Roman" panose="02020603050405020304" pitchFamily="18" charset="0"/>
              </a:rPr>
              <a:t>Health Care Patient Feedback System</a:t>
            </a:r>
            <a:endParaRPr lang="en-IN" dirty="0">
              <a:effectLst/>
              <a:latin typeface="Times New Roman" panose="02020603050405020304" pitchFamily="18" charset="0"/>
              <a:cs typeface="Times New Roman" panose="02020603050405020304" pitchFamily="18" charset="0"/>
            </a:endParaRPr>
          </a:p>
          <a:p>
            <a:pPr marL="347472" indent="-347472" algn="l" rtl="0" eaLnBrk="1" latinLnBrk="0" hangingPunct="1">
              <a:buFont typeface="Arial" panose="020B0604020202020204" pitchFamily="34" charset="0"/>
              <a:buChar char="•"/>
            </a:pPr>
            <a:r>
              <a:rPr lang="en-US" kern="1200" dirty="0">
                <a:solidFill>
                  <a:srgbClr val="000000"/>
                </a:solidFill>
                <a:effectLst/>
                <a:latin typeface="Times New Roman" panose="02020603050405020304" pitchFamily="18" charset="0"/>
                <a:cs typeface="Times New Roman" panose="02020603050405020304" pitchFamily="18" charset="0"/>
              </a:rPr>
              <a:t>Banking and Financial Services Complaint System</a:t>
            </a:r>
          </a:p>
          <a:p>
            <a:pPr marL="347472" indent="-347472" algn="l" rtl="0" eaLnBrk="1" latinLnBrk="0" hangingPunct="1">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Database Integration</a:t>
            </a:r>
            <a:endParaRPr lang="en-US" dirty="0">
              <a:solidFill>
                <a:srgbClr val="000000"/>
              </a:solidFill>
              <a:latin typeface="Times New Roman" panose="02020603050405020304" pitchFamily="18" charset="0"/>
              <a:cs typeface="Times New Roman" panose="02020603050405020304" pitchFamily="18" charset="0"/>
            </a:endParaRPr>
          </a:p>
          <a:p>
            <a:pPr marL="347472" indent="-347472" algn="l" rtl="0" eaLnBrk="1" latinLnBrk="0" hangingPunct="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Machine Learning for Automatic Categorization</a:t>
            </a:r>
          </a:p>
          <a:p>
            <a:pPr marL="347472" indent="-347472" algn="l" rtl="0" eaLnBrk="1" latinLnBrk="0" hangingPunct="1">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Enhanced User Experience (UX)</a:t>
            </a:r>
            <a:endParaRPr lang="en-US" dirty="0">
              <a:latin typeface="Times New Roman" panose="02020603050405020304" pitchFamily="18" charset="0"/>
              <a:cs typeface="Times New Roman" panose="02020603050405020304" pitchFamily="18" charset="0"/>
            </a:endParaRPr>
          </a:p>
          <a:p>
            <a:pPr marL="347472" indent="-347472">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Advanced Analytics and Reporting</a:t>
            </a:r>
          </a:p>
        </p:txBody>
      </p:sp>
    </p:spTree>
    <p:extLst>
      <p:ext uri="{BB962C8B-B14F-4D97-AF65-F5344CB8AC3E}">
        <p14:creationId xmlns:p14="http://schemas.microsoft.com/office/powerpoint/2010/main" val="1382109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39000" b="-3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2956B-AB4C-A3FC-4A4A-E7AB5190FE04}"/>
              </a:ext>
            </a:extLst>
          </p:cNvPr>
          <p:cNvSpPr>
            <a:spLocks noGrp="1"/>
          </p:cNvSpPr>
          <p:nvPr>
            <p:ph type="title"/>
          </p:nvPr>
        </p:nvSpPr>
        <p:spPr>
          <a:xfrm>
            <a:off x="165992" y="-256910"/>
            <a:ext cx="3854528" cy="1278466"/>
          </a:xfrm>
        </p:spPr>
        <p:txBody>
          <a:bodyPr>
            <a:normAutofit/>
          </a:bodyPr>
          <a:lstStyle/>
          <a:p>
            <a:r>
              <a:rPr lang="en-IN" sz="5000" dirty="0">
                <a:solidFill>
                  <a:schemeClr val="tx1"/>
                </a:solidFill>
              </a:rPr>
              <a:t>Conclusion</a:t>
            </a:r>
          </a:p>
        </p:txBody>
      </p:sp>
      <p:graphicFrame>
        <p:nvGraphicFramePr>
          <p:cNvPr id="9" name="Content Placeholder 8">
            <a:extLst>
              <a:ext uri="{FF2B5EF4-FFF2-40B4-BE49-F238E27FC236}">
                <a16:creationId xmlns:a16="http://schemas.microsoft.com/office/drawing/2014/main" id="{E20CAD45-A8DD-A069-D297-74B9F7A4C082}"/>
              </a:ext>
            </a:extLst>
          </p:cNvPr>
          <p:cNvGraphicFramePr>
            <a:graphicFrameLocks noGrp="1"/>
          </p:cNvGraphicFramePr>
          <p:nvPr>
            <p:ph idx="1"/>
            <p:extLst>
              <p:ext uri="{D42A27DB-BD31-4B8C-83A1-F6EECF244321}">
                <p14:modId xmlns:p14="http://schemas.microsoft.com/office/powerpoint/2010/main" val="1341331980"/>
              </p:ext>
            </p:extLst>
          </p:nvPr>
        </p:nvGraphicFramePr>
        <p:xfrm>
          <a:off x="2258343" y="713548"/>
          <a:ext cx="6639453" cy="57450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 Placeholder 5">
            <a:extLst>
              <a:ext uri="{FF2B5EF4-FFF2-40B4-BE49-F238E27FC236}">
                <a16:creationId xmlns:a16="http://schemas.microsoft.com/office/drawing/2014/main" id="{B5E2FC8A-8ED7-8D14-EB16-5BD531E52B5E}"/>
              </a:ext>
            </a:extLst>
          </p:cNvPr>
          <p:cNvSpPr>
            <a:spLocks noGrp="1"/>
          </p:cNvSpPr>
          <p:nvPr>
            <p:ph type="body" sz="half" idx="2"/>
          </p:nvPr>
        </p:nvSpPr>
        <p:spPr>
          <a:xfrm>
            <a:off x="905933" y="1217776"/>
            <a:ext cx="3854528" cy="2584449"/>
          </a:xfrm>
        </p:spPr>
        <p:txBody>
          <a:bodyPr>
            <a:noAutofit/>
          </a:bodyPr>
          <a:lstStyle/>
          <a:p>
            <a:r>
              <a:rPr lang="en-US" sz="2000" dirty="0">
                <a:solidFill>
                  <a:srgbClr val="0000FF"/>
                </a:solidFill>
              </a:rPr>
              <a:t> </a:t>
            </a:r>
            <a:endParaRPr lang="en-IN" sz="2000" dirty="0">
              <a:solidFill>
                <a:srgbClr val="0000FF"/>
              </a:solidFill>
            </a:endParaRPr>
          </a:p>
        </p:txBody>
      </p:sp>
    </p:spTree>
    <p:extLst>
      <p:ext uri="{BB962C8B-B14F-4D97-AF65-F5344CB8AC3E}">
        <p14:creationId xmlns:p14="http://schemas.microsoft.com/office/powerpoint/2010/main" val="814420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A1590-6E64-85D4-A534-8EAC86DA4CD4}"/>
              </a:ext>
            </a:extLst>
          </p:cNvPr>
          <p:cNvSpPr>
            <a:spLocks noGrp="1"/>
          </p:cNvSpPr>
          <p:nvPr>
            <p:ph type="title"/>
          </p:nvPr>
        </p:nvSpPr>
        <p:spPr/>
        <p:txBody>
          <a:bodyPr/>
          <a:lstStyle/>
          <a:p>
            <a:r>
              <a:rPr lang="en-US" dirty="0"/>
              <a:t> </a:t>
            </a:r>
            <a:endParaRPr lang="en-IN" dirty="0"/>
          </a:p>
        </p:txBody>
      </p:sp>
      <p:pic>
        <p:nvPicPr>
          <p:cNvPr id="4" name="Picture 3">
            <a:extLst>
              <a:ext uri="{FF2B5EF4-FFF2-40B4-BE49-F238E27FC236}">
                <a16:creationId xmlns:a16="http://schemas.microsoft.com/office/drawing/2014/main" id="{9DBC6A4E-8614-7FFB-3DB8-E5A25A4E2C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2114" y="381965"/>
            <a:ext cx="6858000" cy="5416952"/>
          </a:xfrm>
          <a:prstGeom prst="rect">
            <a:avLst/>
          </a:prstGeom>
        </p:spPr>
      </p:pic>
    </p:spTree>
    <p:extLst>
      <p:ext uri="{BB962C8B-B14F-4D97-AF65-F5344CB8AC3E}">
        <p14:creationId xmlns:p14="http://schemas.microsoft.com/office/powerpoint/2010/main" val="272240525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188</TotalTime>
  <Words>1095</Words>
  <Application>Microsoft Office PowerPoint</Application>
  <PresentationFormat>Widescreen</PresentationFormat>
  <Paragraphs>90</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Symbol</vt:lpstr>
      <vt:lpstr>Times New Roman</vt:lpstr>
      <vt:lpstr>Trebuchet MS</vt:lpstr>
      <vt:lpstr>Wingdings 3</vt:lpstr>
      <vt:lpstr>Facet</vt:lpstr>
      <vt:lpstr>PowerPoint Presentation</vt:lpstr>
      <vt:lpstr>Problem Statement</vt:lpstr>
      <vt:lpstr>AIM</vt:lpstr>
      <vt:lpstr>ABSTRACT</vt:lpstr>
      <vt:lpstr>INTRODUCTION</vt:lpstr>
      <vt:lpstr>CODE IMPLIMENTATION</vt:lpstr>
      <vt:lpstr>RESULTS</vt:lpstr>
      <vt:lpstr>Engineering Standards</vt:lpstr>
      <vt:lpstr>Future Scope</vt:lpstr>
      <vt:lpstr>Conclusion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 Babu Bingi</dc:creator>
  <cp:lastModifiedBy>Naga Babu Bingi</cp:lastModifiedBy>
  <cp:revision>26</cp:revision>
  <dcterms:created xsi:type="dcterms:W3CDTF">2024-11-20T18:28:19Z</dcterms:created>
  <dcterms:modified xsi:type="dcterms:W3CDTF">2024-11-21T17:02:59Z</dcterms:modified>
</cp:coreProperties>
</file>